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9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Relationship Id="rId7" Type="http://schemas.openxmlformats.org/officeDocument/2006/relationships/image" Target="../media/image15.png"/><Relationship Id="rId8" Type="http://schemas.openxmlformats.org/officeDocument/2006/relationships/image" Target="../media/image1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5" Type="http://schemas.openxmlformats.org/officeDocument/2006/relationships/image" Target="../media/image23.png"/><Relationship Id="rId6" Type="http://schemas.openxmlformats.org/officeDocument/2006/relationships/image" Target="../media/image24.png"/><Relationship Id="rId7" Type="http://schemas.openxmlformats.org/officeDocument/2006/relationships/image" Target="../media/image25.png"/><Relationship Id="rId8" Type="http://schemas.openxmlformats.org/officeDocument/2006/relationships/image" Target="../media/image26.png"/><Relationship Id="rId9" Type="http://schemas.openxmlformats.org/officeDocument/2006/relationships/image" Target="../media/image2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8.png"/><Relationship Id="rId4" Type="http://schemas.openxmlformats.org/officeDocument/2006/relationships/image" Target="../media/image29.png"/><Relationship Id="rId5" Type="http://schemas.openxmlformats.org/officeDocument/2006/relationships/image" Target="../media/image3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1.png"/><Relationship Id="rId4" Type="http://schemas.openxmlformats.org/officeDocument/2006/relationships/image" Target="../media/image3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125" y="1911697"/>
            <a:ext cx="3459509" cy="304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19125" y="2445097"/>
            <a:ext cx="5031878" cy="12153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784"/>
              </a:lnSpc>
            </a:pPr>
            <a:r>
              <a:rPr b="1" sz="4350" i="0" u="none">
                <a:solidFill>
                  <a:srgbClr val="FFFFFF"/>
                </a:solidFill>
                <a:latin typeface="Space Grotesk"/>
              </a:rPr>
              <a:t>Reflexive Thematic</a:t>
            </a:r>
            <a:r>
              <a:t>
</a:t>
            </a:r>
            <a:r>
              <a:rPr b="1" sz="4350" i="0" u="none">
                <a:solidFill>
                  <a:srgbClr val="FFFFFF"/>
                </a:solidFill>
                <a:latin typeface="Space Grotesk"/>
              </a:rPr>
              <a:t> Analysis (RTA)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9125" y="3889027"/>
            <a:ext cx="8039100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b="0" sz="1650" i="0" u="none">
                <a:solidFill>
                  <a:srgbClr val="94A3B8"/>
                </a:solidFill>
                <a:latin typeface="Plus Jakarta Sans"/>
              </a:rPr>
              <a:t>Demarcating Philosophy, Practice, and Quality Standards in Qualitative Research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1525" y="4584352"/>
            <a:ext cx="5591175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64748B"/>
                </a:solidFill>
                <a:latin typeface="Plus Jakarta Sans"/>
              </a:rPr>
              <a:t>Based on foundational literature: Braun &amp; Clarke (2006, 2019, 2021) &amp; Byrne (2022)</a:t>
            </a:r>
            <a:r>
              <a:t>
</a:t>
            </a:r>
            <a:r>
              <a:rPr b="1" sz="1125" i="0" u="none">
                <a:solidFill>
                  <a:srgbClr val="F8FAFC"/>
                </a:solidFill>
                <a:latin typeface="Plus Jakarta Sans"/>
              </a:rPr>
              <a:t>3-Person 9-Minute Presentation Structure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619125" y="4584352"/>
            <a:ext cx="19050" cy="36195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6900" y="2505075"/>
            <a:ext cx="838200" cy="76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359724" y="3267075"/>
            <a:ext cx="5472402" cy="628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3900" i="0" u="none">
                <a:solidFill>
                  <a:srgbClr val="FFFFFF"/>
                </a:solidFill>
                <a:latin typeface="Space Grotesk"/>
              </a:rPr>
              <a:t>Paradigm &amp; Philosophy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95675" y="4048125"/>
            <a:ext cx="520065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b="0" sz="1500" i="0" u="none">
                <a:solidFill>
                  <a:srgbClr val="94A3B8"/>
                </a:solidFill>
                <a:latin typeface="Plus Jakarta Sans"/>
              </a:rPr>
              <a:t>Understanding the "Big Q" Qualitative Ethos of Reflexive TA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125" y="2321421"/>
            <a:ext cx="5343525" cy="2958107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9350" y="2321421"/>
            <a:ext cx="5343525" cy="295810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309985" y="2673846"/>
            <a:ext cx="4515251" cy="295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800" i="0" u="none">
                <a:solidFill>
                  <a:srgbClr val="38BDF8"/>
                </a:solidFill>
                <a:latin typeface="Space Grotesk"/>
              </a:rPr>
              <a:t>Coding Reliability &amp; Codebook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20210" y="2673846"/>
            <a:ext cx="4515251" cy="295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800" i="0" u="none">
                <a:solidFill>
                  <a:srgbClr val="38BDF8"/>
                </a:solidFill>
                <a:latin typeface="Space Grotesk"/>
              </a:rPr>
              <a:t>Reflexive TA (Big Q)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1550" y="2707183"/>
            <a:ext cx="224135" cy="228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200150" y="3121521"/>
            <a:ext cx="4410075" cy="487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1" sz="1200" i="0" u="none">
                <a:solidFill>
                  <a:srgbClr val="F8FAFC"/>
                </a:solidFill>
                <a:latin typeface="Plus Jakarta Sans"/>
              </a:rPr>
              <a:t>Coding Reliability (Small q):</a:t>
            </a:r>
            <a:r>
              <a:rPr b="0" sz="1200" i="0" u="none">
                <a:solidFill>
                  <a:srgbClr val="CBD5E1"/>
                </a:solidFill>
                <a:latin typeface="Plus Jakarta Sans"/>
              </a:rPr>
              <a:t> Neopositivist focus on objective, unbiased coding and measurement of accuracy.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00150" y="3723382"/>
            <a:ext cx="4410075" cy="487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1" sz="1200" i="0" u="none">
                <a:solidFill>
                  <a:srgbClr val="F8FAFC"/>
                </a:solidFill>
                <a:latin typeface="Plus Jakarta Sans"/>
              </a:rPr>
              <a:t>Inter-Rater Reliability:</a:t>
            </a:r>
            <a:r>
              <a:rPr b="0" sz="1200" i="0" u="none">
                <a:solidFill>
                  <a:srgbClr val="CBD5E1"/>
                </a:solidFill>
                <a:latin typeface="Plus Jakarta Sans"/>
              </a:rPr>
              <a:t> Employs Cohen’s Kappa or percentage agreement to enforce coder consensus.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0150" y="4325242"/>
            <a:ext cx="4410075" cy="487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1" sz="1200" i="0" u="none">
                <a:solidFill>
                  <a:srgbClr val="F8FAFC"/>
                </a:solidFill>
                <a:latin typeface="Plus Jakarta Sans"/>
              </a:rPr>
              <a:t>Domain Summaries:</a:t>
            </a:r>
            <a:r>
              <a:rPr b="0" sz="1200" i="0" u="none">
                <a:solidFill>
                  <a:srgbClr val="CBD5E1"/>
                </a:solidFill>
                <a:latin typeface="Plus Jakarta Sans"/>
              </a:rPr>
              <a:t> Themes are pre-determined topic buckets designed before or early in analysis.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1775" y="2707183"/>
            <a:ext cx="224135" cy="2286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810375" y="3121521"/>
            <a:ext cx="4410075" cy="487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1" sz="1200" i="0" u="none">
                <a:solidFill>
                  <a:srgbClr val="F8FAFC"/>
                </a:solidFill>
                <a:latin typeface="Plus Jakarta Sans"/>
              </a:rPr>
              <a:t>Big Q Philosophy:</a:t>
            </a:r>
            <a:r>
              <a:rPr b="0" sz="1200" i="0" u="none">
                <a:solidFill>
                  <a:srgbClr val="CBD5E1"/>
                </a:solidFill>
                <a:latin typeface="Plus Jakarta Sans"/>
              </a:rPr>
              <a:t> Fully embraces qualitative subjectivity as the primary analytic resource.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10375" y="3723382"/>
            <a:ext cx="4410075" cy="487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1" sz="1200" i="0" u="none">
                <a:solidFill>
                  <a:srgbClr val="F8FAFC"/>
                </a:solidFill>
                <a:latin typeface="Plus Jakarta Sans"/>
              </a:rPr>
              <a:t>No Codebooks or Inter-Rater Reliability:</a:t>
            </a:r>
            <a:r>
              <a:rPr b="0" sz="1200" i="0" u="none">
                <a:solidFill>
                  <a:srgbClr val="CBD5E1"/>
                </a:solidFill>
                <a:latin typeface="Plus Jakarta Sans"/>
              </a:rPr>
              <a:t> Avoids consensus coding; values multiple interpretation perspectives.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10375" y="4325242"/>
            <a:ext cx="4410075" cy="487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1" sz="1200" i="0" u="none">
                <a:solidFill>
                  <a:srgbClr val="F8FAFC"/>
                </a:solidFill>
                <a:latin typeface="Plus Jakarta Sans"/>
              </a:rPr>
              <a:t>Central Organising Concepts:</a:t>
            </a:r>
            <a:r>
              <a:rPr b="0" sz="1200" i="0" u="none">
                <a:solidFill>
                  <a:srgbClr val="CBD5E1"/>
                </a:solidFill>
                <a:latin typeface="Plus Jakarta Sans"/>
              </a:rPr>
              <a:t> Themes are organic analytic outputs constructed through deep engagement.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1550" y="3102471"/>
            <a:ext cx="104775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818CF8"/>
                </a:solidFill>
                <a:latin typeface="Plus Jakarta Sans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1550" y="3704332"/>
            <a:ext cx="104775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818CF8"/>
                </a:solidFill>
                <a:latin typeface="Plus Jakarta Sans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1550" y="4306192"/>
            <a:ext cx="104775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818CF8"/>
                </a:solidFill>
                <a:latin typeface="Plus Jakarta Sans"/>
              </a:rP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1775" y="3102471"/>
            <a:ext cx="104775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818CF8"/>
                </a:solidFill>
                <a:latin typeface="Plus Jakarta Sans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1775" y="3704332"/>
            <a:ext cx="104775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818CF8"/>
                </a:solidFill>
                <a:latin typeface="Plus Jakarta Sans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1775" y="4306192"/>
            <a:ext cx="104775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818CF8"/>
                </a:solidFill>
                <a:latin typeface="Plus Jakarta Sans"/>
              </a:rPr>
              <a:t>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9125" y="542925"/>
            <a:ext cx="11501437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700" i="0" u="none">
                <a:solidFill>
                  <a:srgbClr val="FFFFFF"/>
                </a:solidFill>
                <a:latin typeface="Space Grotesk"/>
              </a:rPr>
              <a:t>Typologies of Thematic Analysis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9125" y="981075"/>
            <a:ext cx="57150" cy="3048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19125" y="542925"/>
            <a:ext cx="5750718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700" i="0" u="none">
                <a:solidFill>
                  <a:srgbClr val="FFFFFF"/>
                </a:solidFill>
                <a:latin typeface="Space Grotesk"/>
              </a:rPr>
              <a:t>Subjectivity as an Asset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9525"/>
            <a:ext cx="6086475" cy="68580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19125" y="981075"/>
            <a:ext cx="57150" cy="3048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9125" y="2564159"/>
            <a:ext cx="5476875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CBD5E1"/>
                </a:solidFill>
                <a:latin typeface="Plus Jakarta Sans"/>
              </a:rPr>
              <a:t>Reflexive TA rejects the passive notion that themes "emerge" unassisted from data like </a:t>
            </a:r>
            <a:r>
              <a:rPr b="0" sz="1350" i="1" u="none">
                <a:solidFill>
                  <a:srgbClr val="CBD5E1"/>
                </a:solidFill>
                <a:latin typeface="Plus Jakarta Sans"/>
              </a:rPr>
              <a:t>Venus on the half shell</a:t>
            </a:r>
            <a:r>
              <a:rPr b="0" sz="1350" i="0" u="none">
                <a:solidFill>
                  <a:srgbClr val="CBD5E1"/>
                </a:solidFill>
                <a:latin typeface="Plus Jakarta Sans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9125" y="3303240"/>
            <a:ext cx="5476875" cy="822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CBD5E1"/>
                </a:solidFill>
                <a:latin typeface="Plus Jakarta Sans"/>
              </a:rPr>
              <a:t>Instead, themes are actively produced at the tripartite intersection of: </a:t>
            </a:r>
            <a:r>
              <a:rPr b="1" sz="1350" i="0" u="none">
                <a:solidFill>
                  <a:srgbClr val="F8FAFC"/>
                </a:solidFill>
                <a:latin typeface="Plus Jakarta Sans"/>
              </a:rPr>
              <a:t>(1) The Dataset</a:t>
            </a:r>
            <a:r>
              <a:rPr b="0" sz="1350" i="0" u="none">
                <a:solidFill>
                  <a:srgbClr val="CBD5E1"/>
                </a:solidFill>
                <a:latin typeface="Plus Jakarta Sans"/>
              </a:rPr>
              <a:t>, </a:t>
            </a:r>
            <a:r>
              <a:rPr b="1" sz="1350" i="0" u="none">
                <a:solidFill>
                  <a:srgbClr val="F8FAFC"/>
                </a:solidFill>
                <a:latin typeface="Plus Jakarta Sans"/>
              </a:rPr>
              <a:t>(2) Theoretical Assumptions</a:t>
            </a:r>
            <a:r>
              <a:rPr b="0" sz="1350" i="0" u="none">
                <a:solidFill>
                  <a:srgbClr val="CBD5E1"/>
                </a:solidFill>
                <a:latin typeface="Plus Jakarta Sans"/>
              </a:rPr>
              <a:t>, and </a:t>
            </a:r>
            <a:r>
              <a:rPr b="1" sz="1350" i="0" u="none">
                <a:solidFill>
                  <a:srgbClr val="F8FAFC"/>
                </a:solidFill>
                <a:latin typeface="Plus Jakarta Sans"/>
              </a:rPr>
              <a:t>(3) Researcher Reflexivity</a:t>
            </a:r>
            <a:r>
              <a:rPr b="0" sz="1350" i="0" u="none">
                <a:solidFill>
                  <a:srgbClr val="CBD5E1"/>
                </a:solidFill>
                <a:latin typeface="Plus Jakarta Sans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9125" y="4316610"/>
            <a:ext cx="5476875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CBD5E1"/>
                </a:solidFill>
                <a:latin typeface="Plus Jakarta Sans"/>
              </a:rPr>
              <a:t>Researcher subjectivity is framed not as a threat to reliability, but as the indispensable tool for knowledge production.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9750" y="2505075"/>
            <a:ext cx="952500" cy="76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564593" y="3267075"/>
            <a:ext cx="5062664" cy="628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3900" i="0" u="none">
                <a:solidFill>
                  <a:srgbClr val="FFFFFF"/>
                </a:solidFill>
                <a:latin typeface="Space Grotesk"/>
              </a:rPr>
              <a:t>Theoretical Continua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52862" y="4048125"/>
            <a:ext cx="4486275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b="0" sz="1500" i="0" u="none">
                <a:solidFill>
                  <a:srgbClr val="94A3B8"/>
                </a:solidFill>
                <a:latin typeface="Plus Jakarta Sans"/>
              </a:rPr>
              <a:t>Explicating Epistemological and Analytic Positions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125" y="1455539"/>
            <a:ext cx="10953750" cy="4689871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28650" y="1465064"/>
          <a:ext cx="10934697" cy="467082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1786383"/>
                <a:gridCol w="2622500"/>
                <a:gridCol w="2504330"/>
                <a:gridCol w="4021484"/>
              </a:tblGrid>
              <a:tr h="934164">
                <a:tc>
                  <a:txBody>
                    <a:bodyPr/>
                    <a:lstStyle/>
                    <a:p>
                      <a:pPr algn="l"/>
                      <a:r>
                        <a:rPr b="1" sz="1275" i="0" u="none">
                          <a:solidFill>
                            <a:srgbClr val="38BDF8"/>
                          </a:solidFill>
                          <a:latin typeface="Space Grotesk"/>
                        </a:rPr>
                        <a:t>Continuum Spectrum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275" i="0" u="none">
                          <a:solidFill>
                            <a:srgbClr val="38BDF8"/>
                          </a:solidFill>
                          <a:latin typeface="Space Grotesk"/>
                        </a:rPr>
                        <a:t>Pole A Definition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275" i="0" u="none">
                          <a:solidFill>
                            <a:srgbClr val="38BDF8"/>
                          </a:solidFill>
                          <a:latin typeface="Space Grotesk"/>
                        </a:rPr>
                        <a:t>Pole B Definition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275" i="0" u="none">
                          <a:solidFill>
                            <a:srgbClr val="38BDF8"/>
                          </a:solidFill>
                          <a:latin typeface="Space Grotesk"/>
                        </a:rPr>
                        <a:t>RTA Application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34155"/>
                    </a:solidFill>
                  </a:tcPr>
                </a:tc>
              </a:tr>
              <a:tr h="934164"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Epistemology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Essentialist / Realist</a:t>
                      </a:r>
                      <a:r>
                        <a:t>
</a:t>
                      </a:r>
                      <a:r>
                        <a:rPr b="0" sz="1125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
         Language reflects experience directly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Constructionist</a:t>
                      </a:r>
                      <a:r>
                        <a:t>
</a:t>
                      </a:r>
                      <a:r>
                        <a:rPr b="0" sz="1125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
         Language socially produces meaning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Purely qualitative; predominantly constructionist/contextualist.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934164"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Orientation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Experiential</a:t>
                      </a:r>
                      <a:r>
                        <a:t>
</a:t>
                      </a:r>
                      <a:r>
                        <a:rPr b="0" sz="1125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
         Prioritises participants' personal state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Critical</a:t>
                      </a:r>
                      <a:r>
                        <a:t>
</a:t>
                      </a:r>
                      <a:r>
                        <a:rPr b="0" sz="1125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
         Interrogates structural discourse drivers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Either experiential (meaning made) or critical (meaning constitution).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934164"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Analytic Logic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Inductive</a:t>
                      </a:r>
                      <a:r>
                        <a:t>
</a:t>
                      </a:r>
                      <a:r>
                        <a:rPr b="0" sz="1125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
         Data-driven, open-coded without pre-frame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Deductive</a:t>
                      </a:r>
                      <a:r>
                        <a:t>
</a:t>
                      </a:r>
                      <a:r>
                        <a:rPr b="0" sz="1125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
         Theory-driven lens guides coding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Blend used; one predominates based on research questions.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934165"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Coding Depth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Semantic</a:t>
                      </a:r>
                      <a:r>
                        <a:t>
</a:t>
                      </a:r>
                      <a:r>
                        <a:rPr b="0" sz="1125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
         Explicit surface content level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Latent</a:t>
                      </a:r>
                      <a:r>
                        <a:t>
</a:t>
                      </a:r>
                      <a:r>
                        <a:rPr b="0" sz="1125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
         Underlying assumptions and ideologies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Both levels combined to create rich analytical depth.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628650" y="2283023"/>
            <a:ext cx="1786383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415033" y="2283023"/>
            <a:ext cx="262250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37534" y="2283023"/>
            <a:ext cx="250433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541865" y="2283023"/>
            <a:ext cx="4021484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8650" y="3245048"/>
            <a:ext cx="1786383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415033" y="3245048"/>
            <a:ext cx="262250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37534" y="3245048"/>
            <a:ext cx="250433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541865" y="3245048"/>
            <a:ext cx="4021484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8650" y="4207073"/>
            <a:ext cx="1786383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415033" y="4207073"/>
            <a:ext cx="262250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37534" y="4207073"/>
            <a:ext cx="250433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541865" y="4207073"/>
            <a:ext cx="4021484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8650" y="5169098"/>
            <a:ext cx="1786383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415033" y="5169098"/>
            <a:ext cx="262250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37534" y="5169098"/>
            <a:ext cx="250433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541865" y="5169098"/>
            <a:ext cx="4021484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9125" y="542925"/>
            <a:ext cx="11501437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700" i="0" u="none">
                <a:solidFill>
                  <a:srgbClr val="FFFFFF"/>
                </a:solidFill>
                <a:latin typeface="Space Grotesk"/>
              </a:rPr>
              <a:t>Four Key Theoretical Continua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9125" y="981075"/>
            <a:ext cx="57150" cy="3048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4987" y="2505075"/>
            <a:ext cx="962025" cy="76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594437" y="3267075"/>
            <a:ext cx="5003125" cy="628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3900" i="0" u="none">
                <a:solidFill>
                  <a:srgbClr val="FFFFFF"/>
                </a:solidFill>
                <a:latin typeface="Space Grotesk"/>
              </a:rPr>
              <a:t>The 6-Phase Process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24325" y="4048125"/>
            <a:ext cx="394335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b="0" sz="1500" i="0" u="none">
                <a:solidFill>
                  <a:srgbClr val="94A3B8"/>
                </a:solidFill>
                <a:latin typeface="Plus Jakarta Sans"/>
              </a:rPr>
              <a:t>A Recursive and Iterative Analytic Framework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406" y="4219575"/>
            <a:ext cx="1714500" cy="104194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45543" y="2720429"/>
            <a:ext cx="1714500" cy="104194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07681" y="4219575"/>
            <a:ext cx="1714500" cy="122292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69818" y="2539454"/>
            <a:ext cx="1714500" cy="122292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31956" y="4219575"/>
            <a:ext cx="1714500" cy="104194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894093" y="2720429"/>
            <a:ext cx="1714500" cy="1041945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1354931" y="3905250"/>
            <a:ext cx="171450" cy="171450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 w="38100">
            <a:solidFill>
              <a:srgbClr val="818C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217068" y="3905250"/>
            <a:ext cx="171450" cy="171450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 w="38100">
            <a:solidFill>
              <a:srgbClr val="818C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079206" y="3905250"/>
            <a:ext cx="171450" cy="171450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 w="38100">
            <a:solidFill>
              <a:srgbClr val="818C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941343" y="3905250"/>
            <a:ext cx="171450" cy="171450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 w="38100">
            <a:solidFill>
              <a:srgbClr val="818C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803481" y="3905250"/>
            <a:ext cx="171450" cy="171450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 w="38100">
            <a:solidFill>
              <a:srgbClr val="818C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0665618" y="3905250"/>
            <a:ext cx="171450" cy="171450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 w="38100">
            <a:solidFill>
              <a:srgbClr val="818C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9125" y="3971925"/>
            <a:ext cx="10953750" cy="38100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0565" y="4381500"/>
            <a:ext cx="1460182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125" i="0" u="none">
                <a:solidFill>
                  <a:srgbClr val="38BDF8"/>
                </a:solidFill>
                <a:latin typeface="Space Grotesk"/>
              </a:rPr>
              <a:t>1. Familiarisation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5331" y="4619625"/>
            <a:ext cx="1390650" cy="4799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60"/>
              </a:lnSpc>
            </a:pPr>
            <a:r>
              <a:rPr b="0" sz="900" i="0" u="none">
                <a:solidFill>
                  <a:srgbClr val="94A3B8"/>
                </a:solidFill>
                <a:latin typeface="Plus Jakarta Sans"/>
              </a:rPr>
              <a:t>Active reading, transcribing, and writing preliminary data notes.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72702" y="2882354"/>
            <a:ext cx="1460182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125" i="0" u="none">
                <a:solidFill>
                  <a:srgbClr val="38BDF8"/>
                </a:solidFill>
                <a:latin typeface="Space Grotesk"/>
              </a:rPr>
              <a:t>2. Initial Coding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07468" y="3120479"/>
            <a:ext cx="1390650" cy="4799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60"/>
              </a:lnSpc>
            </a:pPr>
            <a:r>
              <a:rPr b="0" sz="900" i="0" u="none">
                <a:solidFill>
                  <a:srgbClr val="94A3B8"/>
                </a:solidFill>
                <a:latin typeface="Plus Jakarta Sans"/>
              </a:rPr>
              <a:t>Systematic generation of shorthand labels across full dataset.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34840" y="4381500"/>
            <a:ext cx="1460182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125" i="0" u="none">
                <a:solidFill>
                  <a:srgbClr val="38BDF8"/>
                </a:solidFill>
                <a:latin typeface="Space Grotesk"/>
              </a:rPr>
              <a:t>3. Generating Themes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69606" y="4800600"/>
            <a:ext cx="1390650" cy="4799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60"/>
              </a:lnSpc>
            </a:pPr>
            <a:r>
              <a:rPr b="0" sz="900" i="0" u="none">
                <a:solidFill>
                  <a:srgbClr val="94A3B8"/>
                </a:solidFill>
                <a:latin typeface="Plus Jakarta Sans"/>
              </a:rPr>
              <a:t>Collating codes into candidate central organising concepts.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96977" y="2701379"/>
            <a:ext cx="1460182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125" i="0" u="none">
                <a:solidFill>
                  <a:srgbClr val="38BDF8"/>
                </a:solidFill>
                <a:latin typeface="Space Grotesk"/>
              </a:rPr>
              <a:t>4. Reviewing Themes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31743" y="3120479"/>
            <a:ext cx="1390650" cy="4799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60"/>
              </a:lnSpc>
            </a:pPr>
            <a:r>
              <a:rPr b="0" sz="900" i="0" u="none">
                <a:solidFill>
                  <a:srgbClr val="94A3B8"/>
                </a:solidFill>
                <a:latin typeface="Plus Jakarta Sans"/>
              </a:rPr>
              <a:t>Checking themes against extracts (L1) and full dataset (L2).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59115" y="4381500"/>
            <a:ext cx="1460182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125" i="0" u="none">
                <a:solidFill>
                  <a:srgbClr val="38BDF8"/>
                </a:solidFill>
                <a:latin typeface="Space Grotesk"/>
              </a:rPr>
              <a:t>5. Defining Themes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93881" y="4619625"/>
            <a:ext cx="1390650" cy="4799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60"/>
              </a:lnSpc>
            </a:pPr>
            <a:r>
              <a:rPr b="0" sz="900" i="0" u="none">
                <a:solidFill>
                  <a:srgbClr val="94A3B8"/>
                </a:solidFill>
                <a:latin typeface="Plus Jakarta Sans"/>
              </a:rPr>
              <a:t>Refining essence, naming, and selecting vivid data extracts.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21252" y="2882354"/>
            <a:ext cx="1460182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125" i="0" u="none">
                <a:solidFill>
                  <a:srgbClr val="38BDF8"/>
                </a:solidFill>
                <a:latin typeface="Space Grotesk"/>
              </a:rPr>
              <a:t>6. Report Production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6018" y="3120479"/>
            <a:ext cx="1390650" cy="4799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60"/>
              </a:lnSpc>
            </a:pPr>
            <a:r>
              <a:rPr b="0" sz="900" i="0" u="none">
                <a:solidFill>
                  <a:srgbClr val="94A3B8"/>
                </a:solidFill>
                <a:latin typeface="Plus Jakarta Sans"/>
              </a:rPr>
              <a:t>Weaving analytic narrative with extracts &amp; literature.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9125" y="542925"/>
            <a:ext cx="11501437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700" i="0" u="none">
                <a:solidFill>
                  <a:srgbClr val="FFFFFF"/>
                </a:solidFill>
                <a:latin typeface="Space Grotesk"/>
              </a:rPr>
              <a:t>The Six Phases of Reflexive TA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9125" y="981075"/>
            <a:ext cx="57150" cy="3048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1990725"/>
            <a:ext cx="5286375" cy="3619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19125" y="2444650"/>
            <a:ext cx="5286375" cy="517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0" sz="1275" i="0" u="none">
                <a:solidFill>
                  <a:srgbClr val="CBD5E1"/>
                </a:solidFill>
                <a:latin typeface="Plus Jakarta Sans"/>
              </a:rPr>
              <a:t>Byrne (2022) provides an empirical worked example investigating Irish educator attitudes toward student wellbeing promotion: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3900" y="3058775"/>
            <a:ext cx="85725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75" i="0" u="none">
                <a:solidFill>
                  <a:srgbClr val="CBD5E1"/>
                </a:solidFill>
                <a:latin typeface="Plus Jakarta Sans"/>
              </a:rPr>
              <a:t>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9625" y="3057822"/>
            <a:ext cx="5095875" cy="517921"/>
          </a:xfrm>
          <a:prstGeom prst="rect">
            <a:avLst/>
          </a:prstGeom>
          <a:noFill/>
        </p:spPr>
        <p:txBody>
          <a:bodyPr wrap="square" lIns="85725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1" sz="1275" i="0" u="none">
                <a:solidFill>
                  <a:srgbClr val="F8FAFC"/>
                </a:solidFill>
                <a:latin typeface="Plus Jakarta Sans"/>
              </a:rPr>
              <a:t>Spreadsheet Audit Trail:</a:t>
            </a:r>
            <a:r>
              <a:rPr b="0" sz="1275" i="0" u="none">
                <a:solidFill>
                  <a:srgbClr val="CBD5E1"/>
                </a:solidFill>
                <a:latin typeface="Plus Jakarta Sans"/>
              </a:rPr>
              <a:t> Tracked code iterations transparently across transcripts.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3900" y="3671947"/>
            <a:ext cx="85725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75" i="0" u="none">
                <a:solidFill>
                  <a:srgbClr val="CBD5E1"/>
                </a:solidFill>
                <a:latin typeface="Plus Jakarta Sans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9625" y="3670994"/>
            <a:ext cx="5095875" cy="776882"/>
          </a:xfrm>
          <a:prstGeom prst="rect">
            <a:avLst/>
          </a:prstGeom>
          <a:noFill/>
        </p:spPr>
        <p:txBody>
          <a:bodyPr wrap="square" lIns="85725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1" sz="1275" i="0" u="none">
                <a:solidFill>
                  <a:srgbClr val="F8FAFC"/>
                </a:solidFill>
                <a:latin typeface="Plus Jakarta Sans"/>
              </a:rPr>
              <a:t>Level 1 &amp; 2 Reviews:</a:t>
            </a:r>
            <a:r>
              <a:rPr b="0" sz="1275" i="0" u="none">
                <a:solidFill>
                  <a:srgbClr val="CBD5E1"/>
                </a:solidFill>
                <a:latin typeface="Plus Jakarta Sans"/>
              </a:rPr>
              <a:t> Shifted unwieldy candidate themes (e.g., "Factors Inhibiting Wellbeing") into rich central themes ("The Axiology of Wellbeing Promotion").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3900" y="4544079"/>
            <a:ext cx="85725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75" i="0" u="none">
                <a:solidFill>
                  <a:srgbClr val="CBD5E1"/>
                </a:solidFill>
                <a:latin typeface="Plus Jakarta Sans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625" y="4543127"/>
            <a:ext cx="5095875" cy="517921"/>
          </a:xfrm>
          <a:prstGeom prst="rect">
            <a:avLst/>
          </a:prstGeom>
          <a:noFill/>
        </p:spPr>
        <p:txBody>
          <a:bodyPr wrap="square" lIns="85725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1" sz="1275" i="0" u="none">
                <a:solidFill>
                  <a:srgbClr val="F8FAFC"/>
                </a:solidFill>
                <a:latin typeface="Plus Jakarta Sans"/>
              </a:rPr>
              <a:t>Analytic Reporting:</a:t>
            </a:r>
            <a:r>
              <a:rPr b="0" sz="1275" i="0" u="none">
                <a:solidFill>
                  <a:srgbClr val="CBD5E1"/>
                </a:solidFill>
                <a:latin typeface="Plus Jakarta Sans"/>
              </a:rPr>
              <a:t> Contextualised extracts directly within wider sociological literature.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6025" y="2000250"/>
            <a:ext cx="5267325" cy="360045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19125" y="542925"/>
            <a:ext cx="11501437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700" i="0" u="none">
                <a:solidFill>
                  <a:srgbClr val="FFFFFF"/>
                </a:solidFill>
                <a:latin typeface="Space Grotesk"/>
              </a:rPr>
              <a:t>Worked Example: Byrne (2022)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125" y="981075"/>
            <a:ext cx="57150" cy="3048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125" y="2321421"/>
            <a:ext cx="5343525" cy="2958107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9350" y="2321421"/>
            <a:ext cx="5343525" cy="295810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338560" y="2673846"/>
            <a:ext cx="4485248" cy="295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800" i="0" u="none">
                <a:solidFill>
                  <a:srgbClr val="F43F5E"/>
                </a:solidFill>
                <a:latin typeface="Space Grotesk"/>
              </a:rPr>
              <a:t>Domain Summaries (Avoid)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63060" y="2673846"/>
            <a:ext cx="4575259" cy="295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800" i="0" u="none">
                <a:solidFill>
                  <a:srgbClr val="34D399"/>
                </a:solidFill>
                <a:latin typeface="Space Grotesk"/>
              </a:rPr>
              <a:t>Central Organising Concepts (Strive For)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1550" y="2707183"/>
            <a:ext cx="252710" cy="228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200150" y="3121521"/>
            <a:ext cx="4410075" cy="487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CBD5E1"/>
                </a:solidFill>
                <a:latin typeface="Plus Jakarta Sans"/>
              </a:rPr>
              <a:t>Organised around a shared topic or interview question (e.g., "Benefits of Program", "Barriers").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00150" y="3723382"/>
            <a:ext cx="4410075" cy="487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CBD5E1"/>
                </a:solidFill>
                <a:latin typeface="Plus Jakarta Sans"/>
              </a:rPr>
              <a:t>Captures surface diversity of responses without a conceptual core.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0150" y="4325242"/>
            <a:ext cx="4410075" cy="487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CBD5E1"/>
                </a:solidFill>
                <a:latin typeface="Plus Jakarta Sans"/>
              </a:rPr>
              <a:t>Constitutes underdeveloped analytic foreclosure in Reflexive TA.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1775" y="2707183"/>
            <a:ext cx="166985" cy="2286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810375" y="3121521"/>
            <a:ext cx="4410075" cy="487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CBD5E1"/>
                </a:solidFill>
                <a:latin typeface="Plus Jakarta Sans"/>
              </a:rPr>
              <a:t>Patterns of shared </a:t>
            </a:r>
            <a:r>
              <a:rPr b="0" sz="1200" i="1" u="none">
                <a:solidFill>
                  <a:srgbClr val="CBD5E1"/>
                </a:solidFill>
                <a:latin typeface="Plus Jakarta Sans"/>
              </a:rPr>
              <a:t>meaning</a:t>
            </a:r>
            <a:r>
              <a:rPr b="0" sz="1200" i="0" u="none">
                <a:solidFill>
                  <a:srgbClr val="CBD5E1"/>
                </a:solidFill>
                <a:latin typeface="Plus Jakarta Sans"/>
              </a:rPr>
              <a:t> united by an underlying core insight.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10375" y="3723382"/>
            <a:ext cx="4410075" cy="487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CBD5E1"/>
                </a:solidFill>
                <a:latin typeface="Plus Jakarta Sans"/>
              </a:rPr>
              <a:t>Draws disparate data points together into a multi-faceted analytical story.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10375" y="4325242"/>
            <a:ext cx="4410075" cy="487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CBD5E1"/>
                </a:solidFill>
                <a:latin typeface="Plus Jakarta Sans"/>
              </a:rPr>
              <a:t>Iteratively constructed through rigorous coding and deep reflection.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1550" y="3102471"/>
            <a:ext cx="104775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818CF8"/>
                </a:solidFill>
                <a:latin typeface="Plus Jakarta Sans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1550" y="3704332"/>
            <a:ext cx="104775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818CF8"/>
                </a:solidFill>
                <a:latin typeface="Plus Jakarta Sans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1550" y="4306192"/>
            <a:ext cx="104775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818CF8"/>
                </a:solidFill>
                <a:latin typeface="Plus Jakarta Sans"/>
              </a:rP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1775" y="3102471"/>
            <a:ext cx="104775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818CF8"/>
                </a:solidFill>
                <a:latin typeface="Plus Jakarta Sans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1775" y="3704332"/>
            <a:ext cx="104775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818CF8"/>
                </a:solidFill>
                <a:latin typeface="Plus Jakarta Sans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1775" y="4306192"/>
            <a:ext cx="104775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818CF8"/>
                </a:solidFill>
                <a:latin typeface="Plus Jakarta Sans"/>
              </a:rPr>
              <a:t>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9125" y="542925"/>
            <a:ext cx="11501437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700" i="0" u="none">
                <a:solidFill>
                  <a:srgbClr val="FFFFFF"/>
                </a:solidFill>
                <a:latin typeface="Space Grotesk"/>
              </a:rPr>
              <a:t>Domain Summaries vs. Central Concepts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9125" y="981075"/>
            <a:ext cx="57150" cy="3048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125" y="2669381"/>
            <a:ext cx="3498800" cy="2262187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6525" y="2669381"/>
            <a:ext cx="3498800" cy="2262187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3925" y="2669381"/>
            <a:ext cx="3498800" cy="2262187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5350" y="2945606"/>
            <a:ext cx="514350" cy="5143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95350" y="3650456"/>
            <a:ext cx="1796318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FFFFFF"/>
                </a:solidFill>
                <a:latin typeface="Space Grotesk"/>
              </a:rPr>
              <a:t>"Themes Emerged"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5350" y="4012406"/>
            <a:ext cx="2946350" cy="6429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CBD5E1"/>
                </a:solidFill>
                <a:latin typeface="Plus Jakarta Sans"/>
              </a:rPr>
              <a:t>Avoid passive framing. Themes do not sit in data waiting to be discovered; researchers actively construct them.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22750" y="2945606"/>
            <a:ext cx="514350" cy="5143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622750" y="3650456"/>
            <a:ext cx="1872265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FFFFFF"/>
                </a:solidFill>
                <a:latin typeface="Space Grotesk"/>
              </a:rPr>
              <a:t>Confused Mash-ups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22750" y="4012406"/>
            <a:ext cx="2946350" cy="6429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CBD5E1"/>
                </a:solidFill>
                <a:latin typeface="Plus Jakarta Sans"/>
              </a:rPr>
              <a:t>Avoid combining RTA with positivist inter-rater reliability, Cohen's Kappa, or rigid codebooks without rationale.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50150" y="2945606"/>
            <a:ext cx="514350" cy="5143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350150" y="3650456"/>
            <a:ext cx="1562226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FFFFFF"/>
                </a:solidFill>
                <a:latin typeface="Space Grotesk"/>
              </a:rPr>
              <a:t>Quality Checklist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50150" y="4012406"/>
            <a:ext cx="2946350" cy="6429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CBD5E1"/>
                </a:solidFill>
                <a:latin typeface="Plus Jakarta Sans"/>
              </a:rPr>
              <a:t>Use Braun &amp; Clarke's (2021) 20-question review tool to ensure paradigmatic coherence and analytic rigor.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6800" y="3088481"/>
            <a:ext cx="171450" cy="2286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79912" y="3088481"/>
            <a:ext cx="200025" cy="2286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521600" y="3088481"/>
            <a:ext cx="171450" cy="2286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19125" y="542925"/>
            <a:ext cx="11501437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700" i="0" u="none">
                <a:solidFill>
                  <a:srgbClr val="FFFFFF"/>
                </a:solidFill>
                <a:latin typeface="Space Grotesk"/>
              </a:rPr>
              <a:t>Pitfalls &amp; Quality Assurance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9125" y="981075"/>
            <a:ext cx="57150" cy="3048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45281" y="2342257"/>
            <a:ext cx="11501437" cy="781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4800" i="0" u="none">
                <a:solidFill>
                  <a:srgbClr val="FFFFFF"/>
                </a:solidFill>
                <a:latin typeface="Space Grotesk"/>
              </a:rPr>
              <a:t>Questions &amp; 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9125" y="3275707"/>
            <a:ext cx="10953750" cy="335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640"/>
              </a:lnSpc>
            </a:pPr>
            <a:r>
              <a:rPr b="0" sz="1650" i="0" u="none">
                <a:solidFill>
                  <a:srgbClr val="94A3B8"/>
                </a:solidFill>
                <a:latin typeface="Plus Jakarta Sans"/>
              </a:rPr>
              <a:t>Thank you for your attention. Let's discuss Reflexive TA in practice.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38562" y="3991867"/>
            <a:ext cx="4714875" cy="52387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052887" y="4153792"/>
            <a:ext cx="2686050" cy="200025"/>
          </a:xfrm>
          <a:prstGeom prst="rect">
            <a:avLst/>
          </a:prstGeom>
          <a:noFill/>
        </p:spPr>
        <p:txBody>
          <a:bodyPr wrap="square" lIns="171450" rIns="0" tIns="0" bIns="0" anchor="t">
            <a:spAutoFit/>
          </a:bodyPr>
          <a:lstStyle/>
          <a:p>
            <a:pPr algn="ctr"/>
            <a:r>
              <a:rPr b="0" sz="1200" i="0" u="none">
                <a:solidFill>
                  <a:srgbClr val="818CF8"/>
                </a:solidFill>
                <a:latin typeface="Plus Jakarta Sans Medium"/>
              </a:rPr>
              <a:t>Braun &amp; Clarke (2006, 2019, 2021)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67537" y="4153792"/>
            <a:ext cx="1171575" cy="200025"/>
          </a:xfrm>
          <a:prstGeom prst="rect">
            <a:avLst/>
          </a:prstGeom>
          <a:noFill/>
        </p:spPr>
        <p:txBody>
          <a:bodyPr wrap="square" lIns="190500" rIns="0" tIns="0" bIns="0" anchor="t">
            <a:spAutoFit/>
          </a:bodyPr>
          <a:lstStyle/>
          <a:p>
            <a:pPr algn="ctr"/>
            <a:r>
              <a:rPr b="0" sz="1200" i="0" u="none">
                <a:solidFill>
                  <a:srgbClr val="818CF8"/>
                </a:solidFill>
                <a:latin typeface="Plus Jakarta Sans Medium"/>
              </a:rPr>
              <a:t>Byrne (2022)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52887" y="4182367"/>
            <a:ext cx="171450" cy="1524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67537" y="4182367"/>
            <a:ext cx="190500" cy="1524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19125" y="3020466"/>
            <a:ext cx="10953750" cy="78477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19125" y="3795712"/>
            <a:ext cx="1095375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19125" y="3795712"/>
            <a:ext cx="1095375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125" y="3169890"/>
            <a:ext cx="857250" cy="4762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714500" y="3163341"/>
            <a:ext cx="9858375" cy="1980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CBD5E1"/>
                </a:solidFill>
                <a:latin typeface="Plus Jakarta Sans"/>
              </a:rPr>
              <a:t>https://www.maxqda.com/wp/wp-content/uploads/sites/2/Narrative-Analysis.jpg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14500" y="3409057"/>
            <a:ext cx="9858375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CBD5E1"/>
                </a:solidFill>
                <a:latin typeface="Plus Jakarta Sans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Plus Jakarta Sans"/>
              </a:rPr>
              <a:t>www.maxqda.com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125" y="3954660"/>
            <a:ext cx="857250" cy="4762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714500" y="3948112"/>
            <a:ext cx="9858375" cy="1980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CBD5E1"/>
                </a:solidFill>
                <a:latin typeface="Plus Jakarta Sans"/>
              </a:rPr>
              <a:t>http://itbe.org/photos/16908_07032014193531.jpg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14500" y="4193827"/>
            <a:ext cx="9858375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CBD5E1"/>
                </a:solidFill>
                <a:latin typeface="Plus Jakarta Sans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Plus Jakarta Sans"/>
              </a:rPr>
              <a:t>www.itbe.org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9125" y="542925"/>
            <a:ext cx="11501437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700" i="0" u="none">
                <a:solidFill>
                  <a:srgbClr val="FFFFFF"/>
                </a:solidFill>
                <a:latin typeface="Space Grotesk"/>
              </a:rPr>
              <a:t>Image Sources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125" y="981075"/>
            <a:ext cx="57150" cy="3048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